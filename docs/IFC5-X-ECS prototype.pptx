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59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4CB2"/>
    <a:srgbClr val="FFFBFF"/>
    <a:srgbClr val="156082"/>
    <a:srgbClr val="FBF7FF"/>
    <a:srgbClr val="F5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100" d="100"/>
          <a:sy n="100" d="100"/>
        </p:scale>
        <p:origin x="-12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98EE-B801-CBB6-757B-DF05CC273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32A4A-AE21-52EF-50E0-11E50815C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1FE18-39BC-C9EB-224D-F8D60477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747CE-9BE3-2AF8-DCEC-50C5E013F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C6106-5611-197D-3E28-A5A6544B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3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2F21-7410-ABAB-BBF0-207B44AB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ACD90-F1ED-AD0D-58C8-D47EDB9C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19F5F-917F-3616-7316-C5779B53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60EFD-1C50-4A2B-4E4F-4C76CBAE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D7199-46D3-E2C9-681B-9A800537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4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0F93-107D-2849-D7A9-2C49A3C6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D4DD4-23BE-9CA2-04A3-E9BDF868E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01D4F-F29C-3F57-FB93-2C754362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C355F-F358-C43D-E8BF-8AA2414B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846FE-CD14-AB07-779E-3AA307BB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7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7907-ACB7-7228-F328-7131118F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805B5-EC85-5E61-18DB-FAEA8AD60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1126E-DC08-214E-09BF-236791BF2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6F116-689D-666E-7BA8-48178241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CB87F-FD63-F6A6-D87B-CDECACD6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38911-BC53-883A-7783-C40DE139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3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2A78-BF8C-9000-2679-F0BBE198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992F5-6B51-079D-8AEF-203EB65CF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9AFEB-BE4A-DDF6-BEFD-1931E0ABB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C7545-0C8F-E5A1-E79E-7DE3F29BB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F3932-9206-6387-36E9-C4E4B0DD5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872A2-16AA-1641-0118-D98B478C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2C898-C41F-12AF-4BC2-C8AEAD5D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D377DB-5F34-A90B-6802-4EB419D7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C7C41-B716-7895-54A4-E91303C0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22E1-EA53-CF91-6526-66DD36687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93372-736C-55AA-235F-8BCFED5D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B8028-CD96-3F38-DA12-7E90A282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0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9B6430-838E-5711-E02F-93F0089DF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03202-2EC2-BC64-B59F-06368F08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B5D0C-E9B6-6515-1CE9-B8A8ABB3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6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2CBA-00EF-1EF6-C90D-5BCE1524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1EFA4-95A8-FC85-27EC-E3E8A8CC2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113F6-9400-311D-AEA2-C8A43E475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B27C2-1623-7295-5BBC-F137A13D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0EB57-01B7-34D3-77C5-2FAA9936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A3963-2B07-EAED-48B9-948B1CAA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9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7951-0F47-CAAC-3E7E-34A66E2F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F2C33-9788-672A-3ABE-CBD21ACED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E3F68-7224-F7DD-152C-33505E549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391B8-887F-7F33-25FC-BD19BE41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E35A5-307A-B7B0-DB7A-1C42788F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F380F-1362-742C-5679-45B9E998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0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BACA-8F4F-588B-8996-A71EA12E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83A10-03EB-B5A2-6CE6-88D2A0DEC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95D4-9B0A-50D6-C9AD-78E10FA5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12FE3-9379-B744-2FC3-2D716283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54AC1-1DA9-85C6-B737-0EAC2F82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4A332-CE7E-7F8A-B1CB-AEE2E6AFD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0D2F4-703E-A36E-9188-8C765EFE2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5BF25-D09C-9F57-CC38-D545F091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957E4-C9D6-C1EE-77D2-6F3CFCC0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95253-48C7-B6CC-CDAC-E51EB198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6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9965F-36DC-9D1A-6A66-42CE39F3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C773D-25E4-3A96-E239-5B9E126F5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87BD-B96B-BDE5-54C9-C2FF32BA0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FB411-4FD0-4A32-A190-99D1D3338BC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3B5A-3085-3BB7-DB00-163B397BD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FDD41-86A8-EE6D-8969-3F7FD5794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4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AD37EA-4BC2-CBEC-FFF7-37601AB1AA2D}"/>
              </a:ext>
            </a:extLst>
          </p:cNvPr>
          <p:cNvSpPr/>
          <p:nvPr/>
        </p:nvSpPr>
        <p:spPr>
          <a:xfrm>
            <a:off x="5045413" y="156291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EE96FD-ECF4-3612-30F5-FA28DFDAC5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IFC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5-X</a:t>
            </a:r>
            <a:r>
              <a:rPr lang="en-US" dirty="0"/>
              <a:t>-ECS prototype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B07503-0792-CA13-2A9F-EA3235124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6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70335-EBA8-5145-ACCC-A6FD22BC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088"/>
          </a:xfrm>
        </p:spPr>
        <p:txBody>
          <a:bodyPr>
            <a:normAutofit fontScale="90000"/>
          </a:bodyPr>
          <a:lstStyle/>
          <a:p>
            <a:r>
              <a:rPr lang="en-US" dirty="0"/>
              <a:t>IFC-ECS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2E89D-8774-DD49-3D7B-987FC7A0A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430"/>
            <a:ext cx="10515600" cy="5275533"/>
          </a:xfrm>
        </p:spPr>
        <p:txBody>
          <a:bodyPr/>
          <a:lstStyle/>
          <a:p>
            <a:r>
              <a:rPr lang="en-US" dirty="0"/>
              <a:t>Emerged out of the API group in Exton</a:t>
            </a:r>
          </a:p>
          <a:p>
            <a:r>
              <a:rPr lang="en-US" dirty="0"/>
              <a:t>V.01 MVP</a:t>
            </a:r>
          </a:p>
          <a:p>
            <a:pPr lvl="1"/>
            <a:r>
              <a:rPr lang="en-US" dirty="0"/>
              <a:t>A simplified component data schema based closely on IFC4.X</a:t>
            </a:r>
          </a:p>
          <a:p>
            <a:pPr lvl="1"/>
            <a:r>
              <a:rPr lang="en-US" dirty="0"/>
              <a:t>strategy for upgrading object class / instance data.</a:t>
            </a:r>
          </a:p>
          <a:p>
            <a:pPr lvl="1"/>
            <a:r>
              <a:rPr lang="en-US" dirty="0"/>
              <a:t>Simple REST based query</a:t>
            </a:r>
          </a:p>
          <a:p>
            <a:pPr lvl="1"/>
            <a:r>
              <a:rPr lang="en-US" dirty="0"/>
              <a:t>A reference implementation:</a:t>
            </a:r>
          </a:p>
          <a:p>
            <a:pPr lvl="2"/>
            <a:r>
              <a:rPr lang="en-US" dirty="0"/>
              <a:t>IFC4 to (ECS based) </a:t>
            </a:r>
            <a:r>
              <a:rPr lang="en-US" dirty="0" err="1"/>
              <a:t>IFCJson</a:t>
            </a:r>
            <a:r>
              <a:rPr lang="en-US" dirty="0"/>
              <a:t> translator</a:t>
            </a:r>
          </a:p>
          <a:p>
            <a:pPr lvl="2"/>
            <a:r>
              <a:rPr lang="en-US" dirty="0"/>
              <a:t>Web server with IFC file upload, Query service</a:t>
            </a:r>
          </a:p>
          <a:p>
            <a:pPr lvl="2"/>
            <a:r>
              <a:rPr lang="en-US" dirty="0"/>
              <a:t>Web viewer app</a:t>
            </a:r>
          </a:p>
          <a:p>
            <a:r>
              <a:rPr lang="en-US" dirty="0"/>
              <a:t>Set of principles, approach to collective development</a:t>
            </a:r>
          </a:p>
          <a:p>
            <a:r>
              <a:rPr lang="en-US" dirty="0"/>
              <a:t>Heavily based on V4, </a:t>
            </a:r>
            <a:r>
              <a:rPr lang="en-US" dirty="0" err="1"/>
              <a:t>IfcOpenShell</a:t>
            </a:r>
            <a:r>
              <a:rPr lang="en-US" dirty="0"/>
              <a:t>, </a:t>
            </a:r>
            <a:r>
              <a:rPr lang="en-US" dirty="0" err="1"/>
              <a:t>IfcJSON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91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227C10-8CE9-356A-F334-428F8008C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65" y="370055"/>
            <a:ext cx="10077817" cy="611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64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76BC8-4300-8612-1F19-7CACC3EA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0F5C-EC3E-BC8B-598F-37917839B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088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 data strategy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12A2C22C-B0E0-B014-3E47-B84073246CE7}"/>
              </a:ext>
            </a:extLst>
          </p:cNvPr>
          <p:cNvSpPr/>
          <p:nvPr/>
        </p:nvSpPr>
        <p:spPr>
          <a:xfrm>
            <a:off x="5110264" y="3696511"/>
            <a:ext cx="285345" cy="1154530"/>
          </a:xfrm>
          <a:prstGeom prst="leftBrace">
            <a:avLst>
              <a:gd name="adj1" fmla="val 58333"/>
              <a:gd name="adj2" fmla="val 35957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92FB83-0334-80CE-57DA-C3DC74F3F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08" y="1040033"/>
            <a:ext cx="4355438" cy="3811008"/>
          </a:xfrm>
          <a:prstGeom prst="rect">
            <a:avLst/>
          </a:prstGeom>
        </p:spPr>
      </p:pic>
      <p:sp>
        <p:nvSpPr>
          <p:cNvPr id="15" name="Right Bracket 14">
            <a:extLst>
              <a:ext uri="{FF2B5EF4-FFF2-40B4-BE49-F238E27FC236}">
                <a16:creationId xmlns:a16="http://schemas.microsoft.com/office/drawing/2014/main" id="{680FF3A5-668C-8A53-4570-A110FEA7F7FC}"/>
              </a:ext>
            </a:extLst>
          </p:cNvPr>
          <p:cNvSpPr/>
          <p:nvPr/>
        </p:nvSpPr>
        <p:spPr>
          <a:xfrm>
            <a:off x="5003946" y="3696511"/>
            <a:ext cx="45719" cy="856034"/>
          </a:xfrm>
          <a:prstGeom prst="rightBracke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206D32-4D98-48EA-DD08-4A0527335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56"/>
          <a:stretch>
            <a:fillRect/>
          </a:stretch>
        </p:blipFill>
        <p:spPr>
          <a:xfrm>
            <a:off x="1427044" y="1792306"/>
            <a:ext cx="4319747" cy="44658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8F1C25-B1F1-3C77-C8F2-A2F3982975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32"/>
          <a:stretch>
            <a:fillRect/>
          </a:stretch>
        </p:blipFill>
        <p:spPr>
          <a:xfrm>
            <a:off x="7042056" y="1891897"/>
            <a:ext cx="4563274" cy="436623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64CA55-5C2F-4871-37E0-A1ECA4BF9F00}"/>
              </a:ext>
            </a:extLst>
          </p:cNvPr>
          <p:cNvSpPr txBox="1"/>
          <p:nvPr/>
        </p:nvSpPr>
        <p:spPr>
          <a:xfrm>
            <a:off x="838200" y="6407673"/>
            <a:ext cx="4343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Definition with Instance parameters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96CC54-B396-66A5-4A36-13573ECB1668}"/>
              </a:ext>
            </a:extLst>
          </p:cNvPr>
          <p:cNvSpPr txBox="1"/>
          <p:nvPr/>
        </p:nvSpPr>
        <p:spPr>
          <a:xfrm>
            <a:off x="8569255" y="6407673"/>
            <a:ext cx="1508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Property Sets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865D24-6B40-B24C-B284-F73516F32939}"/>
              </a:ext>
            </a:extLst>
          </p:cNvPr>
          <p:cNvSpPr txBox="1"/>
          <p:nvPr/>
        </p:nvSpPr>
        <p:spPr>
          <a:xfrm>
            <a:off x="6965005" y="62799"/>
            <a:ext cx="25174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Starting with:</a:t>
            </a:r>
          </a:p>
          <a:p>
            <a:r>
              <a:rPr lang="en-US" dirty="0"/>
              <a:t>Object definitions, </a:t>
            </a:r>
          </a:p>
          <a:p>
            <a:r>
              <a:rPr lang="en-US" dirty="0"/>
              <a:t>Property Sets,</a:t>
            </a:r>
          </a:p>
          <a:p>
            <a:r>
              <a:rPr lang="en-US" dirty="0"/>
              <a:t>Relations,</a:t>
            </a:r>
          </a:p>
          <a:p>
            <a:r>
              <a:rPr lang="en-US" dirty="0"/>
              <a:t>ShapeRepresentations,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348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8C4B-2847-6CAA-0294-68F3A16C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A4DF44-E4CE-2603-6727-46047447734B}"/>
              </a:ext>
            </a:extLst>
          </p:cNvPr>
          <p:cNvSpPr/>
          <p:nvPr/>
        </p:nvSpPr>
        <p:spPr>
          <a:xfrm>
            <a:off x="7056462" y="3192090"/>
            <a:ext cx="4505618" cy="717505"/>
          </a:xfrm>
          <a:prstGeom prst="rect">
            <a:avLst/>
          </a:prstGeom>
          <a:solidFill>
            <a:srgbClr val="FFFBFF"/>
          </a:solidFill>
          <a:ln w="3175">
            <a:solidFill>
              <a:srgbClr val="604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0CF13C-B218-B738-693A-6DBFDBE79C0B}"/>
              </a:ext>
            </a:extLst>
          </p:cNvPr>
          <p:cNvSpPr/>
          <p:nvPr/>
        </p:nvSpPr>
        <p:spPr>
          <a:xfrm>
            <a:off x="1441450" y="3192090"/>
            <a:ext cx="4305341" cy="717505"/>
          </a:xfrm>
          <a:prstGeom prst="rect">
            <a:avLst/>
          </a:prstGeom>
          <a:solidFill>
            <a:srgbClr val="FFFBFF"/>
          </a:solidFill>
          <a:ln w="3175">
            <a:solidFill>
              <a:srgbClr val="604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loud 19">
            <a:extLst>
              <a:ext uri="{FF2B5EF4-FFF2-40B4-BE49-F238E27FC236}">
                <a16:creationId xmlns:a16="http://schemas.microsoft.com/office/drawing/2014/main" id="{8E4F6210-9070-11E3-C736-7D06234E5803}"/>
              </a:ext>
            </a:extLst>
          </p:cNvPr>
          <p:cNvSpPr/>
          <p:nvPr/>
        </p:nvSpPr>
        <p:spPr>
          <a:xfrm>
            <a:off x="3962400" y="891151"/>
            <a:ext cx="4267200" cy="754670"/>
          </a:xfrm>
          <a:prstGeom prst="cloud">
            <a:avLst/>
          </a:prstGeom>
          <a:solidFill>
            <a:srgbClr val="F5EEFF"/>
          </a:solidFill>
          <a:ln w="9525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CFD9D-9328-7573-6D9B-A4C09402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088"/>
          </a:xfrm>
        </p:spPr>
        <p:txBody>
          <a:bodyPr>
            <a:normAutofit fontScale="90000"/>
          </a:bodyPr>
          <a:lstStyle/>
          <a:p>
            <a:r>
              <a:rPr lang="en-US" dirty="0"/>
              <a:t>Data migration strategy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1AFD77-58C6-0640-28CC-C2325BB1D1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906" b="44017"/>
          <a:stretch>
            <a:fillRect/>
          </a:stretch>
        </p:blipFill>
        <p:spPr>
          <a:xfrm>
            <a:off x="1427044" y="2814150"/>
            <a:ext cx="4319747" cy="3779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49AAEF-B65D-C4D9-DD35-946FDF5657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546"/>
          <a:stretch>
            <a:fillRect/>
          </a:stretch>
        </p:blipFill>
        <p:spPr>
          <a:xfrm>
            <a:off x="7042056" y="3889699"/>
            <a:ext cx="4563274" cy="19663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57E466-8E6B-8AE6-640A-6380FDFEF8A0}"/>
              </a:ext>
            </a:extLst>
          </p:cNvPr>
          <p:cNvSpPr txBox="1"/>
          <p:nvPr/>
        </p:nvSpPr>
        <p:spPr>
          <a:xfrm>
            <a:off x="1367280" y="2020739"/>
            <a:ext cx="2447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>
                <a:solidFill>
                  <a:srgbClr val="604CB2"/>
                </a:solidFill>
              </a:rPr>
              <a:t>ClassType</a:t>
            </a:r>
            <a:r>
              <a:rPr lang="en-US" u="sng" dirty="0">
                <a:solidFill>
                  <a:srgbClr val="604CB2"/>
                </a:solidFill>
              </a:rPr>
              <a:t> Component</a:t>
            </a:r>
          </a:p>
          <a:p>
            <a:r>
              <a:rPr lang="en-US" dirty="0" err="1">
                <a:solidFill>
                  <a:srgbClr val="604CB2"/>
                </a:solidFill>
              </a:rPr>
              <a:t>IfcDoor</a:t>
            </a:r>
            <a:endParaRPr lang="en-US" dirty="0">
              <a:solidFill>
                <a:srgbClr val="604CB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002B6A-9986-0781-49DF-E5DE1E3EFEDE}"/>
              </a:ext>
            </a:extLst>
          </p:cNvPr>
          <p:cNvSpPr txBox="1"/>
          <p:nvPr/>
        </p:nvSpPr>
        <p:spPr>
          <a:xfrm>
            <a:off x="1427044" y="3192092"/>
            <a:ext cx="2965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EntityGuid			</a:t>
            </a:r>
          </a:p>
          <a:p>
            <a:pPr>
              <a:tabLst>
                <a:tab pos="1374775" algn="l"/>
              </a:tabLst>
            </a:pPr>
            <a:r>
              <a:rPr lang="en-US" sz="1000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EntityType	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ComponentGuid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ComponentType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6CBFD2-D935-E14B-C672-7064A22E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731" b="4556"/>
          <a:stretch>
            <a:fillRect/>
          </a:stretch>
        </p:blipFill>
        <p:spPr>
          <a:xfrm>
            <a:off x="1427044" y="3899978"/>
            <a:ext cx="4319747" cy="1858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419C96-DE37-9A41-DB90-3DC4D39C71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906" b="44017"/>
          <a:stretch>
            <a:fillRect/>
          </a:stretch>
        </p:blipFill>
        <p:spPr>
          <a:xfrm>
            <a:off x="7042056" y="2814150"/>
            <a:ext cx="4505618" cy="377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BFD6F6-49F1-D8FE-0CC7-5900563D9178}"/>
              </a:ext>
            </a:extLst>
          </p:cNvPr>
          <p:cNvSpPr txBox="1"/>
          <p:nvPr/>
        </p:nvSpPr>
        <p:spPr>
          <a:xfrm>
            <a:off x="7042056" y="3192092"/>
            <a:ext cx="29546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EntityGuid			</a:t>
            </a:r>
          </a:p>
          <a:p>
            <a:pPr>
              <a:tabLst>
                <a:tab pos="1374775" algn="l"/>
              </a:tabLst>
            </a:pPr>
            <a:r>
              <a:rPr lang="en-US" sz="1000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ComponentGuid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E51B5-F3A8-38CA-CB89-B76C15FCE135}"/>
              </a:ext>
            </a:extLst>
          </p:cNvPr>
          <p:cNvSpPr txBox="1"/>
          <p:nvPr/>
        </p:nvSpPr>
        <p:spPr>
          <a:xfrm>
            <a:off x="7042056" y="2020739"/>
            <a:ext cx="2569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>
                <a:solidFill>
                  <a:srgbClr val="604CB2"/>
                </a:solidFill>
              </a:rPr>
              <a:t>Propertyset</a:t>
            </a:r>
            <a:r>
              <a:rPr lang="en-US" u="sng" dirty="0">
                <a:solidFill>
                  <a:srgbClr val="604CB2"/>
                </a:solidFill>
              </a:rPr>
              <a:t> Component</a:t>
            </a:r>
          </a:p>
          <a:p>
            <a:r>
              <a:rPr lang="en-US" dirty="0" err="1">
                <a:solidFill>
                  <a:srgbClr val="604CB2"/>
                </a:solidFill>
              </a:rPr>
              <a:t>IfcDoor</a:t>
            </a:r>
            <a:endParaRPr lang="en-US" dirty="0">
              <a:solidFill>
                <a:srgbClr val="604CB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AD88D-8129-6D18-A73C-B79033F96AE2}"/>
              </a:ext>
            </a:extLst>
          </p:cNvPr>
          <p:cNvSpPr txBox="1"/>
          <p:nvPr/>
        </p:nvSpPr>
        <p:spPr>
          <a:xfrm>
            <a:off x="4392921" y="1063548"/>
            <a:ext cx="361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0d68ad35-29c7-484d-907c-65a3fbc0eadb</a:t>
            </a:r>
          </a:p>
          <a:p>
            <a:pPr algn="ctr"/>
            <a:r>
              <a:rPr lang="en-US" sz="1400" dirty="0">
                <a:solidFill>
                  <a:srgbClr val="604CB2"/>
                </a:solidFill>
              </a:rPr>
              <a:t>(</a:t>
            </a:r>
            <a:r>
              <a:rPr lang="en-US" sz="1400" dirty="0" err="1">
                <a:solidFill>
                  <a:srgbClr val="604CB2"/>
                </a:solidFill>
              </a:rPr>
              <a:t>IfcDoor</a:t>
            </a:r>
            <a:r>
              <a:rPr lang="en-US" sz="1400" dirty="0">
                <a:solidFill>
                  <a:srgbClr val="604CB2"/>
                </a:solidFill>
              </a:rPr>
              <a:t>)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F401EA-6904-B31E-4696-051FC78F4E62}"/>
              </a:ext>
            </a:extLst>
          </p:cNvPr>
          <p:cNvSpPr/>
          <p:nvPr/>
        </p:nvSpPr>
        <p:spPr>
          <a:xfrm>
            <a:off x="2178996" y="1718552"/>
            <a:ext cx="3495472" cy="1589837"/>
          </a:xfrm>
          <a:custGeom>
            <a:avLst/>
            <a:gdLst>
              <a:gd name="csX0" fmla="*/ 0 w 3495472"/>
              <a:gd name="csY0" fmla="*/ 1588851 h 1679854"/>
              <a:gd name="csX1" fmla="*/ 1990927 w 3495472"/>
              <a:gd name="csY1" fmla="*/ 1504545 h 1679854"/>
              <a:gd name="csX2" fmla="*/ 3495472 w 3495472"/>
              <a:gd name="csY2" fmla="*/ 0 h 1679854"/>
              <a:gd name="csX0" fmla="*/ 0 w 3495472"/>
              <a:gd name="csY0" fmla="*/ 1588851 h 1612226"/>
              <a:gd name="csX1" fmla="*/ 2120630 w 3495472"/>
              <a:gd name="csY1" fmla="*/ 1232170 h 1612226"/>
              <a:gd name="csX2" fmla="*/ 3495472 w 3495472"/>
              <a:gd name="csY2" fmla="*/ 0 h 1612226"/>
              <a:gd name="csX0" fmla="*/ 0 w 3495472"/>
              <a:gd name="csY0" fmla="*/ 1588851 h 1589837"/>
              <a:gd name="csX1" fmla="*/ 2120630 w 3495472"/>
              <a:gd name="csY1" fmla="*/ 1232170 h 1589837"/>
              <a:gd name="csX2" fmla="*/ 3495472 w 3495472"/>
              <a:gd name="csY2" fmla="*/ 0 h 15898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95472" h="1589837">
                <a:moveTo>
                  <a:pt x="0" y="1588851"/>
                </a:moveTo>
                <a:cubicBezTo>
                  <a:pt x="859817" y="1601280"/>
                  <a:pt x="1538051" y="1496978"/>
                  <a:pt x="2120630" y="1232170"/>
                </a:cubicBezTo>
                <a:cubicBezTo>
                  <a:pt x="2703209" y="967362"/>
                  <a:pt x="3034489" y="619868"/>
                  <a:pt x="3495472" y="0"/>
                </a:cubicBez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  <a:prstDash val="dash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A74EABA-1AA7-C654-8613-D16FE457A60D}"/>
              </a:ext>
            </a:extLst>
          </p:cNvPr>
          <p:cNvSpPr/>
          <p:nvPr/>
        </p:nvSpPr>
        <p:spPr>
          <a:xfrm flipH="1">
            <a:off x="6075802" y="1718552"/>
            <a:ext cx="966254" cy="1619791"/>
          </a:xfrm>
          <a:custGeom>
            <a:avLst/>
            <a:gdLst>
              <a:gd name="csX0" fmla="*/ 0 w 3495472"/>
              <a:gd name="csY0" fmla="*/ 1588851 h 1679854"/>
              <a:gd name="csX1" fmla="*/ 1990927 w 3495472"/>
              <a:gd name="csY1" fmla="*/ 1504545 h 1679854"/>
              <a:gd name="csX2" fmla="*/ 3495472 w 3495472"/>
              <a:gd name="csY2" fmla="*/ 0 h 1679854"/>
              <a:gd name="csX0" fmla="*/ 0 w 3495472"/>
              <a:gd name="csY0" fmla="*/ 1588851 h 1641013"/>
              <a:gd name="csX1" fmla="*/ 2108225 w 3495472"/>
              <a:gd name="csY1" fmla="*/ 1407268 h 1641013"/>
              <a:gd name="csX2" fmla="*/ 3495472 w 3495472"/>
              <a:gd name="csY2" fmla="*/ 0 h 1641013"/>
              <a:gd name="csX0" fmla="*/ 0 w 3495472"/>
              <a:gd name="csY0" fmla="*/ 1588851 h 1619791"/>
              <a:gd name="csX1" fmla="*/ 2272447 w 3495472"/>
              <a:gd name="csY1" fmla="*/ 1303506 h 1619791"/>
              <a:gd name="csX2" fmla="*/ 3495472 w 3495472"/>
              <a:gd name="csY2" fmla="*/ 0 h 1619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95472" h="1619791">
                <a:moveTo>
                  <a:pt x="0" y="1588851"/>
                </a:moveTo>
                <a:cubicBezTo>
                  <a:pt x="704174" y="1679102"/>
                  <a:pt x="1689868" y="1568314"/>
                  <a:pt x="2272447" y="1303506"/>
                </a:cubicBezTo>
                <a:cubicBezTo>
                  <a:pt x="2855026" y="1038698"/>
                  <a:pt x="3034489" y="619868"/>
                  <a:pt x="3495472" y="0"/>
                </a:cubicBez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  <a:prstDash val="dash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A2B36B9-FCB8-3ED6-E35E-39C39915EBB2}"/>
              </a:ext>
            </a:extLst>
          </p:cNvPr>
          <p:cNvSpPr/>
          <p:nvPr/>
        </p:nvSpPr>
        <p:spPr>
          <a:xfrm>
            <a:off x="2230878" y="1604878"/>
            <a:ext cx="3787301" cy="1858169"/>
          </a:xfrm>
          <a:custGeom>
            <a:avLst/>
            <a:gdLst>
              <a:gd name="csX0" fmla="*/ 3605719 w 3605719"/>
              <a:gd name="csY0" fmla="*/ 0 h 1588851"/>
              <a:gd name="csX1" fmla="*/ 2178995 w 3605719"/>
              <a:gd name="csY1" fmla="*/ 1258110 h 1588851"/>
              <a:gd name="csX2" fmla="*/ 0 w 3605719"/>
              <a:gd name="csY2" fmla="*/ 1588851 h 1588851"/>
              <a:gd name="csX0" fmla="*/ 3852153 w 3852153"/>
              <a:gd name="csY0" fmla="*/ 0 h 1880681"/>
              <a:gd name="csX1" fmla="*/ 2178995 w 3852153"/>
              <a:gd name="csY1" fmla="*/ 1549940 h 1880681"/>
              <a:gd name="csX2" fmla="*/ 0 w 3852153"/>
              <a:gd name="csY2" fmla="*/ 1880681 h 1880681"/>
              <a:gd name="csX0" fmla="*/ 3852153 w 3852153"/>
              <a:gd name="csY0" fmla="*/ 0 h 1880681"/>
              <a:gd name="csX1" fmla="*/ 2334638 w 3852153"/>
              <a:gd name="csY1" fmla="*/ 1478604 h 1880681"/>
              <a:gd name="csX2" fmla="*/ 0 w 3852153"/>
              <a:gd name="csY2" fmla="*/ 1880681 h 1880681"/>
              <a:gd name="csX0" fmla="*/ 3852153 w 3852153"/>
              <a:gd name="csY0" fmla="*/ 0 h 1880681"/>
              <a:gd name="csX1" fmla="*/ 2163138 w 3852153"/>
              <a:gd name="csY1" fmla="*/ 1603314 h 1880681"/>
              <a:gd name="csX2" fmla="*/ 0 w 3852153"/>
              <a:gd name="csY2" fmla="*/ 1880681 h 1880681"/>
              <a:gd name="csX0" fmla="*/ 3852153 w 3852153"/>
              <a:gd name="csY0" fmla="*/ 0 h 1880681"/>
              <a:gd name="csX1" fmla="*/ 2288465 w 3852153"/>
              <a:gd name="csY1" fmla="*/ 1570496 h 1880681"/>
              <a:gd name="csX2" fmla="*/ 0 w 3852153"/>
              <a:gd name="csY2" fmla="*/ 1880681 h 1880681"/>
              <a:gd name="csX0" fmla="*/ 3852153 w 3852153"/>
              <a:gd name="csY0" fmla="*/ 0 h 1880681"/>
              <a:gd name="csX1" fmla="*/ 2235696 w 3852153"/>
              <a:gd name="csY1" fmla="*/ 1517986 h 1880681"/>
              <a:gd name="csX2" fmla="*/ 0 w 3852153"/>
              <a:gd name="csY2" fmla="*/ 1880681 h 1880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52153" h="1880681">
                <a:moveTo>
                  <a:pt x="3852153" y="0"/>
                </a:moveTo>
                <a:cubicBezTo>
                  <a:pt x="3439267" y="496651"/>
                  <a:pt x="2836649" y="1253178"/>
                  <a:pt x="2235696" y="1517986"/>
                </a:cubicBezTo>
                <a:cubicBezTo>
                  <a:pt x="1634743" y="1782794"/>
                  <a:pt x="28102" y="1863387"/>
                  <a:pt x="0" y="1880681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  <a:prstDash val="soli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E483-30B8-C285-1722-3D73FF43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505EFD-0E24-4FDE-88A9-2FA1DDC7B09A}"/>
              </a:ext>
            </a:extLst>
          </p:cNvPr>
          <p:cNvSpPr/>
          <p:nvPr/>
        </p:nvSpPr>
        <p:spPr>
          <a:xfrm>
            <a:off x="7056462" y="3192090"/>
            <a:ext cx="4505618" cy="717505"/>
          </a:xfrm>
          <a:prstGeom prst="rect">
            <a:avLst/>
          </a:prstGeom>
          <a:solidFill>
            <a:srgbClr val="FFFBFF"/>
          </a:solidFill>
          <a:ln w="3175">
            <a:solidFill>
              <a:srgbClr val="604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EF4D96-7750-1DD8-506E-4BE7B7753575}"/>
              </a:ext>
            </a:extLst>
          </p:cNvPr>
          <p:cNvSpPr/>
          <p:nvPr/>
        </p:nvSpPr>
        <p:spPr>
          <a:xfrm>
            <a:off x="1441450" y="3192090"/>
            <a:ext cx="4305341" cy="717505"/>
          </a:xfrm>
          <a:prstGeom prst="rect">
            <a:avLst/>
          </a:prstGeom>
          <a:solidFill>
            <a:srgbClr val="FFFBFF"/>
          </a:solidFill>
          <a:ln w="3175">
            <a:solidFill>
              <a:srgbClr val="604C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loud 19">
            <a:extLst>
              <a:ext uri="{FF2B5EF4-FFF2-40B4-BE49-F238E27FC236}">
                <a16:creationId xmlns:a16="http://schemas.microsoft.com/office/drawing/2014/main" id="{F3F49D09-5016-B681-A7C7-2556B48F0D72}"/>
              </a:ext>
            </a:extLst>
          </p:cNvPr>
          <p:cNvSpPr/>
          <p:nvPr/>
        </p:nvSpPr>
        <p:spPr>
          <a:xfrm>
            <a:off x="3962400" y="891151"/>
            <a:ext cx="4267200" cy="754670"/>
          </a:xfrm>
          <a:prstGeom prst="cloud">
            <a:avLst/>
          </a:prstGeom>
          <a:solidFill>
            <a:srgbClr val="F5EEFF"/>
          </a:solidFill>
          <a:ln w="9525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2E856-B2DD-121F-DEE4-D8C0D569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088"/>
          </a:xfrm>
        </p:spPr>
        <p:txBody>
          <a:bodyPr>
            <a:normAutofit fontScale="90000"/>
          </a:bodyPr>
          <a:lstStyle/>
          <a:p>
            <a:r>
              <a:rPr lang="en-US" dirty="0"/>
              <a:t>Data migration strategy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FA06B7-346B-7A3E-34E7-47F535889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906" b="44017"/>
          <a:stretch>
            <a:fillRect/>
          </a:stretch>
        </p:blipFill>
        <p:spPr>
          <a:xfrm>
            <a:off x="1427044" y="2814150"/>
            <a:ext cx="4319747" cy="3779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93E4DC-6B11-E272-9076-4DB8D48B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546"/>
          <a:stretch>
            <a:fillRect/>
          </a:stretch>
        </p:blipFill>
        <p:spPr>
          <a:xfrm>
            <a:off x="7042056" y="3889699"/>
            <a:ext cx="4563274" cy="19663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8CFE37-14F0-470C-3059-4B2807EBD6D2}"/>
              </a:ext>
            </a:extLst>
          </p:cNvPr>
          <p:cNvSpPr txBox="1"/>
          <p:nvPr/>
        </p:nvSpPr>
        <p:spPr>
          <a:xfrm>
            <a:off x="1367280" y="2020739"/>
            <a:ext cx="2447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>
                <a:solidFill>
                  <a:srgbClr val="604CB2"/>
                </a:solidFill>
              </a:rPr>
              <a:t>ClassType</a:t>
            </a:r>
            <a:r>
              <a:rPr lang="en-US" u="sng" dirty="0">
                <a:solidFill>
                  <a:srgbClr val="604CB2"/>
                </a:solidFill>
              </a:rPr>
              <a:t> Component</a:t>
            </a:r>
          </a:p>
          <a:p>
            <a:r>
              <a:rPr lang="en-US" dirty="0" err="1">
                <a:solidFill>
                  <a:srgbClr val="604CB2"/>
                </a:solidFill>
              </a:rPr>
              <a:t>IfcDoor</a:t>
            </a:r>
            <a:endParaRPr lang="en-US" dirty="0">
              <a:solidFill>
                <a:srgbClr val="604CB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4C0761-1EA4-A73E-BEF4-6223420E459C}"/>
              </a:ext>
            </a:extLst>
          </p:cNvPr>
          <p:cNvSpPr txBox="1"/>
          <p:nvPr/>
        </p:nvSpPr>
        <p:spPr>
          <a:xfrm>
            <a:off x="1441450" y="3192092"/>
            <a:ext cx="2951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EntityGuid			</a:t>
            </a:r>
          </a:p>
          <a:p>
            <a:pPr>
              <a:tabLst>
                <a:tab pos="1374775" algn="l"/>
              </a:tabLst>
            </a:pPr>
            <a:r>
              <a:rPr lang="en-US" sz="1000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EntityType	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ComponentGuid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ComponentType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0E628-0B94-BA08-0393-0BBB138D2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731" b="4556"/>
          <a:stretch>
            <a:fillRect/>
          </a:stretch>
        </p:blipFill>
        <p:spPr>
          <a:xfrm>
            <a:off x="1427044" y="3899978"/>
            <a:ext cx="4319747" cy="1858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9A73D3-3A46-343C-CE0D-A78922C88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906" b="44017"/>
          <a:stretch>
            <a:fillRect/>
          </a:stretch>
        </p:blipFill>
        <p:spPr>
          <a:xfrm>
            <a:off x="7042056" y="2814150"/>
            <a:ext cx="4319747" cy="377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65519F-E442-6496-9042-97539B9AFC89}"/>
              </a:ext>
            </a:extLst>
          </p:cNvPr>
          <p:cNvSpPr txBox="1"/>
          <p:nvPr/>
        </p:nvSpPr>
        <p:spPr>
          <a:xfrm>
            <a:off x="7042056" y="3192092"/>
            <a:ext cx="29546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EntityGuid			</a:t>
            </a:r>
          </a:p>
          <a:p>
            <a:pPr>
              <a:tabLst>
                <a:tab pos="1374775" algn="l"/>
              </a:tabLst>
            </a:pPr>
            <a:r>
              <a:rPr lang="en-US" sz="1000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ComponentGuid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F9BCE-9656-C0D1-7E20-B185F6A5E0D0}"/>
              </a:ext>
            </a:extLst>
          </p:cNvPr>
          <p:cNvSpPr txBox="1"/>
          <p:nvPr/>
        </p:nvSpPr>
        <p:spPr>
          <a:xfrm>
            <a:off x="7042056" y="2020739"/>
            <a:ext cx="2569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>
                <a:solidFill>
                  <a:srgbClr val="604CB2"/>
                </a:solidFill>
              </a:rPr>
              <a:t>Propertyset</a:t>
            </a:r>
            <a:r>
              <a:rPr lang="en-US" u="sng" dirty="0">
                <a:solidFill>
                  <a:srgbClr val="604CB2"/>
                </a:solidFill>
              </a:rPr>
              <a:t> Component</a:t>
            </a:r>
          </a:p>
          <a:p>
            <a:r>
              <a:rPr lang="en-US" dirty="0" err="1">
                <a:solidFill>
                  <a:srgbClr val="604CB2"/>
                </a:solidFill>
              </a:rPr>
              <a:t>IfcDoor</a:t>
            </a:r>
            <a:endParaRPr lang="en-US" dirty="0">
              <a:solidFill>
                <a:srgbClr val="604CB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3EB9E9-1B9E-A73F-1464-8D9A1AE5B2B1}"/>
              </a:ext>
            </a:extLst>
          </p:cNvPr>
          <p:cNvSpPr txBox="1"/>
          <p:nvPr/>
        </p:nvSpPr>
        <p:spPr>
          <a:xfrm>
            <a:off x="4392921" y="1063548"/>
            <a:ext cx="3615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0d68ad35-29c7-484d-907c-65a3fbc0eadb</a:t>
            </a:r>
          </a:p>
          <a:p>
            <a:pPr algn="ctr"/>
            <a:r>
              <a:rPr lang="en-US" sz="1400" dirty="0">
                <a:solidFill>
                  <a:srgbClr val="604CB2"/>
                </a:solidFill>
              </a:rPr>
              <a:t>(</a:t>
            </a:r>
            <a:r>
              <a:rPr lang="en-US" sz="1400" dirty="0" err="1">
                <a:solidFill>
                  <a:srgbClr val="604CB2"/>
                </a:solidFill>
              </a:rPr>
              <a:t>IfcDoor</a:t>
            </a:r>
            <a:r>
              <a:rPr lang="en-US" sz="1400" dirty="0">
                <a:solidFill>
                  <a:srgbClr val="604CB2"/>
                </a:solidFill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948FEF-C841-03DA-8CB8-D1452DD51EA6}"/>
              </a:ext>
            </a:extLst>
          </p:cNvPr>
          <p:cNvSpPr txBox="1"/>
          <p:nvPr/>
        </p:nvSpPr>
        <p:spPr>
          <a:xfrm>
            <a:off x="1441450" y="3192090"/>
            <a:ext cx="3863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&lt;- V4 IFC ID	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&lt;- The V4 class name</a:t>
            </a:r>
            <a:r>
              <a:rPr lang="en-US" sz="1000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&lt;- New </a:t>
            </a:r>
            <a:r>
              <a:rPr lang="en-US" sz="1000" b="1" dirty="0" err="1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</a:t>
            </a:r>
            <a:endParaRPr lang="en-US" sz="1000" b="1" dirty="0">
              <a:solidFill>
                <a:srgbClr val="604CB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tabLst>
                <a:tab pos="1374775" algn="l"/>
              </a:tabLst>
            </a:pPr>
            <a:r>
              <a: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&lt;- </a:t>
            </a:r>
            <a:r>
              <a:rPr lang="en-US" sz="1000" b="1" dirty="0" err="1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EntityType+Component</a:t>
            </a:r>
            <a:endParaRPr lang="en-US" sz="1000" b="1" dirty="0">
              <a:solidFill>
                <a:srgbClr val="604CB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CCACAC-B368-D9C2-F7FE-C6F3517B56DA}"/>
              </a:ext>
            </a:extLst>
          </p:cNvPr>
          <p:cNvGrpSpPr/>
          <p:nvPr/>
        </p:nvGrpSpPr>
        <p:grpSpPr>
          <a:xfrm>
            <a:off x="3815258" y="3192090"/>
            <a:ext cx="7104783" cy="707886"/>
            <a:chOff x="3815258" y="3192090"/>
            <a:chExt cx="7104783" cy="70788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268FA8-C4D4-66C1-0901-20169DCB1F9C}"/>
                </a:ext>
              </a:extLst>
            </p:cNvPr>
            <p:cNvSpPr txBox="1"/>
            <p:nvPr/>
          </p:nvSpPr>
          <p:spPr>
            <a:xfrm>
              <a:off x="7042056" y="3192090"/>
              <a:ext cx="38779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tabLst>
                  <a:tab pos="1374775" algn="l"/>
                </a:tabLst>
              </a:pPr>
              <a:r>
                <a:rPr lang="en-US" sz="1000" b="1" dirty="0">
                  <a:solidFill>
                    <a:srgbClr val="604C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	&lt;- </a:t>
              </a:r>
              <a:r>
                <a:rPr lang="en-US" sz="1000" b="1" dirty="0" err="1">
                  <a:solidFill>
                    <a:srgbClr val="604C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Guid</a:t>
              </a:r>
              <a:r>
                <a:rPr lang="en-US" sz="1000" b="1" dirty="0">
                  <a:solidFill>
                    <a:srgbClr val="604C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of Entity		</a:t>
              </a:r>
            </a:p>
            <a:p>
              <a:pPr>
                <a:tabLst>
                  <a:tab pos="1374775" algn="l"/>
                </a:tabLst>
              </a:pPr>
              <a:r>
                <a:rPr lang="en-US" sz="1000" dirty="0">
                  <a:solidFill>
                    <a:srgbClr val="604C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	</a:t>
              </a:r>
            </a:p>
            <a:p>
              <a:pPr>
                <a:tabLst>
                  <a:tab pos="1374775" algn="l"/>
                </a:tabLst>
              </a:pPr>
              <a:r>
                <a:rPr lang="en-US" sz="1000" b="1" dirty="0">
                  <a:solidFill>
                    <a:srgbClr val="604C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	&lt;- V4 IFC ID</a:t>
              </a:r>
            </a:p>
            <a:p>
              <a:pPr>
                <a:tabLst>
                  <a:tab pos="1374775" algn="l"/>
                </a:tabLst>
              </a:pPr>
              <a:r>
                <a:rPr lang="en-US" sz="1000" b="1" dirty="0">
                  <a:solidFill>
                    <a:srgbClr val="604C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ComponentType	&lt;- </a:t>
              </a:r>
              <a:r>
                <a:rPr lang="en-US" sz="1000" b="1" dirty="0" err="1">
                  <a:solidFill>
                    <a:srgbClr val="604C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IFCPropertySet</a:t>
              </a:r>
              <a:endParaRPr lang="en-US" sz="1000" b="1" dirty="0">
                <a:solidFill>
                  <a:srgbClr val="604C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70112B6-5696-CB60-FD40-2A739DCF5025}"/>
                </a:ext>
              </a:extLst>
            </p:cNvPr>
            <p:cNvCxnSpPr>
              <a:cxnSpLocks/>
            </p:cNvCxnSpPr>
            <p:nvPr/>
          </p:nvCxnSpPr>
          <p:spPr>
            <a:xfrm>
              <a:off x="3815258" y="3320373"/>
              <a:ext cx="3226798" cy="0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589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70C181-03D0-D0E3-A193-8D0C4494063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A1A1A"/>
              </a:clrFrom>
              <a:clrTo>
                <a:srgbClr val="1A1A1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7434" y="162128"/>
            <a:ext cx="6290108" cy="5332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6C49E8-316A-43D7-D216-8F640065B493}"/>
              </a:ext>
            </a:extLst>
          </p:cNvPr>
          <p:cNvSpPr txBox="1"/>
          <p:nvPr/>
        </p:nvSpPr>
        <p:spPr>
          <a:xfrm>
            <a:off x="102888" y="0"/>
            <a:ext cx="4591455" cy="1516499"/>
          </a:xfrm>
          <a:prstGeom prst="roundRect">
            <a:avLst>
              <a:gd name="adj" fmla="val 8568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5c890f20-ee21-063a-7d35-3cffdf73b494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IfcDoorComponent</a:t>
            </a:r>
            <a:r>
              <a:rPr lang="en-US" sz="8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IfcDoor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Door-Passage-Single-Flush:36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:1240792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"objectType"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Door-Passage-Single-Flush:36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"overallHeight"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7.333333333333333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"overallWidth"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3.333333333333333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"tag"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1240792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24AE9-C61C-9B59-150E-22834CC33AE4}"/>
              </a:ext>
            </a:extLst>
          </p:cNvPr>
          <p:cNvSpPr txBox="1"/>
          <p:nvPr/>
        </p:nvSpPr>
        <p:spPr>
          <a:xfrm>
            <a:off x="102889" y="1665345"/>
            <a:ext cx="4591455" cy="2101989"/>
          </a:xfrm>
          <a:prstGeom prst="roundRect">
            <a:avLst>
              <a:gd name="adj" fmla="val 4732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6d533265-65f4-fc00-e847-7e73cc3ab3f7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IfcPropertySetComponent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hasProperties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IfcPropertySingleValueComponent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nominalValue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IfcIdentifierComponent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wrappedValue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Pset_QuantityTakeOff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A4ED71-4381-A0B3-919C-2DB69E4B9782}"/>
              </a:ext>
            </a:extLst>
          </p:cNvPr>
          <p:cNvSpPr txBox="1"/>
          <p:nvPr/>
        </p:nvSpPr>
        <p:spPr>
          <a:xfrm>
            <a:off x="102887" y="3916180"/>
            <a:ext cx="4591455" cy="1488519"/>
          </a:xfrm>
          <a:prstGeom prst="roundRect">
            <a:avLst>
              <a:gd name="adj" fmla="val 5585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cbb1b9d8-b5b8-d604-1715-c5157acc3229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IfcShapeRepresentationComponent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representationIdentifier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representationFormat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"items"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"v -2.01486169281188 0.023749999999998328 1.0089289321881372\n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f 13 2 3\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3 4\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4 5\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5 6\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6 7\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7 8\n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”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6EA4FD-0F51-3592-EB92-EE79F587BF0F}"/>
              </a:ext>
            </a:extLst>
          </p:cNvPr>
          <p:cNvSpPr txBox="1"/>
          <p:nvPr/>
        </p:nvSpPr>
        <p:spPr>
          <a:xfrm>
            <a:off x="102887" y="5494868"/>
            <a:ext cx="4591456" cy="1374636"/>
          </a:xfrm>
          <a:prstGeom prst="roundRect">
            <a:avLst>
              <a:gd name="adj" fmla="val 7716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933c4a06-93b8-11d3-80f8-00c14f8efc2c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IfcRelContainedInSpatialStructureComponent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entityGuid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933c4a06-93b8-11d3-80f8-00c04f8efc2c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relatedElements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f1c8fc3e-82ee-4c75-ae69-2b1be09262cd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f1c8fc3e-82ee-4c75-ae69-2b1be0926297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</p:spTree>
    <p:extLst>
      <p:ext uri="{BB962C8B-B14F-4D97-AF65-F5344CB8AC3E}">
        <p14:creationId xmlns:p14="http://schemas.microsoft.com/office/powerpoint/2010/main" val="417368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8A2B7-F359-DCB6-CD33-03FEB89E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489F19-A294-77B8-776F-C321B337FDC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A1A1A"/>
              </a:clrFrom>
              <a:clrTo>
                <a:srgbClr val="1A1A1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7434" y="162128"/>
            <a:ext cx="6290108" cy="5332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801EB4-6BCF-725C-E529-5DAD727EE1D5}"/>
              </a:ext>
            </a:extLst>
          </p:cNvPr>
          <p:cNvSpPr txBox="1"/>
          <p:nvPr/>
        </p:nvSpPr>
        <p:spPr>
          <a:xfrm>
            <a:off x="102888" y="0"/>
            <a:ext cx="4591455" cy="1516499"/>
          </a:xfrm>
          <a:prstGeom prst="roundRect">
            <a:avLst>
              <a:gd name="adj" fmla="val 8568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5c890f20-ee21-063a-7d35-3cffdf73b494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IfcDoorComponent</a:t>
            </a:r>
            <a:r>
              <a:rPr lang="en-US" sz="8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IfcDoor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Door-Passage-Single-Flush:36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:1240792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"objectType"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Door-Passage-Single-Flush:36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"overallHeight"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7.333333333333333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"overallWidth"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3.333333333333333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"tag"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1240792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28F93-A297-4EF2-CFED-F517E4BCEB02}"/>
              </a:ext>
            </a:extLst>
          </p:cNvPr>
          <p:cNvSpPr txBox="1"/>
          <p:nvPr/>
        </p:nvSpPr>
        <p:spPr>
          <a:xfrm>
            <a:off x="102889" y="1665345"/>
            <a:ext cx="4591455" cy="2101989"/>
          </a:xfrm>
          <a:prstGeom prst="roundRect">
            <a:avLst>
              <a:gd name="adj" fmla="val 4732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6d533265-65f4-fc00-e847-7e73cc3ab3f7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IfcPropertySetComponent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hasProperties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IfcPropertySingleValueComponent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nominalValue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IfcIdentifierComponent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wrappedValue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Pset_QuantityTakeOff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295494-9C0A-1EF8-EC9E-F84840C08E87}"/>
              </a:ext>
            </a:extLst>
          </p:cNvPr>
          <p:cNvSpPr txBox="1"/>
          <p:nvPr/>
        </p:nvSpPr>
        <p:spPr>
          <a:xfrm>
            <a:off x="102887" y="3916180"/>
            <a:ext cx="4591455" cy="1488519"/>
          </a:xfrm>
          <a:prstGeom prst="roundRect">
            <a:avLst>
              <a:gd name="adj" fmla="val 5585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cbb1b9d8-b5b8-d604-1715-c5157acc3229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IfcShapeRepresentationComponent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representationIdentifier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representationFormat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"items"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"v -2.01486169281188 0.023749999999998328 1.0089289321881372\n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f 13 2 3\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3 4\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4 5\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5 6\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6 7\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7 8\n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”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BFDD2A-9426-A92C-CE91-F9831EA83CBF}"/>
              </a:ext>
            </a:extLst>
          </p:cNvPr>
          <p:cNvSpPr txBox="1"/>
          <p:nvPr/>
        </p:nvSpPr>
        <p:spPr>
          <a:xfrm>
            <a:off x="102887" y="5494868"/>
            <a:ext cx="4591456" cy="1118890"/>
          </a:xfrm>
          <a:prstGeom prst="roundRect">
            <a:avLst>
              <a:gd name="adj" fmla="val 7716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933c4a06-93b8-11d3-80f8-00c14f8efc2c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IfcRelContainedInSpatialStructureComponent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relatedElements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0d68ad35-29c7-484d-907c-65a3fbc0eadb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relatingStructure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933c4a06-93b8-11d3-80f8-00c04f8efc2c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</p:spTree>
    <p:extLst>
      <p:ext uri="{BB962C8B-B14F-4D97-AF65-F5344CB8AC3E}">
        <p14:creationId xmlns:p14="http://schemas.microsoft.com/office/powerpoint/2010/main" val="104780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FA97-E6F9-F1F3-C6B0-386880AA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254481-C963-18EE-D835-B28EDC6A6D5F}"/>
              </a:ext>
            </a:extLst>
          </p:cNvPr>
          <p:cNvSpPr txBox="1"/>
          <p:nvPr/>
        </p:nvSpPr>
        <p:spPr>
          <a:xfrm>
            <a:off x="102888" y="0"/>
            <a:ext cx="4591455" cy="1516499"/>
          </a:xfrm>
          <a:prstGeom prst="roundRect">
            <a:avLst>
              <a:gd name="adj" fmla="val 8568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5c890f20-ee21-063a-7d35-3cffdf73b494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IfcDoorComponent</a:t>
            </a:r>
            <a:r>
              <a:rPr lang="en-US" sz="8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IfcDoor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Door-Passage-Single-Flush:36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:1240792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"objectType"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Door-Passage-Single-Flush:36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"overallHeight"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7.333333333333333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"overallWidth"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3.333333333333333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"tag"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1240792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712C-52A2-8304-6B5F-4FFF36A24B2A}"/>
              </a:ext>
            </a:extLst>
          </p:cNvPr>
          <p:cNvSpPr txBox="1"/>
          <p:nvPr/>
        </p:nvSpPr>
        <p:spPr>
          <a:xfrm>
            <a:off x="102889" y="1665345"/>
            <a:ext cx="4591455" cy="2101989"/>
          </a:xfrm>
          <a:prstGeom prst="roundRect">
            <a:avLst>
              <a:gd name="adj" fmla="val 4732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6d533265-65f4-fc00-e847-7e73cc3ab3f7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IfcPropertySetComponent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hasProperties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IfcPropertySingleValueComponent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nominalValue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IfcIdentifierComponent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wrappedValue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x 84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Pset_QuantityTakeOff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824FB4-6512-19BD-F798-2C970E229117}"/>
              </a:ext>
            </a:extLst>
          </p:cNvPr>
          <p:cNvSpPr txBox="1"/>
          <p:nvPr/>
        </p:nvSpPr>
        <p:spPr>
          <a:xfrm>
            <a:off x="102887" y="3916180"/>
            <a:ext cx="4591455" cy="1488519"/>
          </a:xfrm>
          <a:prstGeom prst="roundRect">
            <a:avLst>
              <a:gd name="adj" fmla="val 5585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cbb1b9d8-b5b8-d604-1715-c5157acc3229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IfcShapeRepresentationComponent</a:t>
            </a:r>
            <a:r>
              <a:rPr lang="en-US" sz="800" b="1" dirty="0">
                <a:solidFill>
                  <a:srgbClr val="0070C0"/>
                </a:solidFill>
                <a:latin typeface="Consolas" panose="020B0609020204030204" pitchFamily="49" charset="0"/>
              </a:rPr>
              <a:t>",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"entityGuid"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f1c8fc3e-82ee-4c75-ae69-2b1be0926228</a:t>
            </a:r>
            <a:r>
              <a:rPr lang="en-US" sz="800" b="0" dirty="0">
                <a:solidFill>
                  <a:srgbClr val="E21F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representationIdentifier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representationFormat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"items"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"v -2.01486169281188 0.023749999999998328 1.0089289321881372\n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f 13 2 3\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3 4\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4 5\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5 6\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6 7\</a:t>
            </a:r>
            <a:r>
              <a:rPr lang="en-US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nf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13 7 8\n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”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7D96F-5BF3-9CB8-B8CC-CF139ACBB7E8}"/>
              </a:ext>
            </a:extLst>
          </p:cNvPr>
          <p:cNvSpPr txBox="1"/>
          <p:nvPr/>
        </p:nvSpPr>
        <p:spPr>
          <a:xfrm>
            <a:off x="102887" y="5494868"/>
            <a:ext cx="4591456" cy="1118890"/>
          </a:xfrm>
          <a:prstGeom prst="roundRect">
            <a:avLst>
              <a:gd name="adj" fmla="val 7716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933c4a06-93b8-11d3-80f8-00c14f8efc2c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IfcRelContainedInSpatialStructureComponent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relatedElements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0d68ad35-29c7-484d-907c-65a3fbc0eadb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relatingStructure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933c4a06-93b8-11d3-80f8-00c04f8efc2c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8A88E-0A35-7DC6-7045-C993512495D6}"/>
              </a:ext>
            </a:extLst>
          </p:cNvPr>
          <p:cNvSpPr txBox="1"/>
          <p:nvPr/>
        </p:nvSpPr>
        <p:spPr>
          <a:xfrm>
            <a:off x="6027437" y="3065279"/>
            <a:ext cx="4591456" cy="3548479"/>
          </a:xfrm>
          <a:prstGeom prst="roundRect">
            <a:avLst>
              <a:gd name="adj" fmla="val 7716"/>
            </a:avLst>
          </a:prstGeom>
          <a:solidFill>
            <a:srgbClr val="FBF7FF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"componentGuid"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5ee46b9f-a508-fc7b-3fde-e8df6c667753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IfcRelAssociatesMaterialComponent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relatedObjects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0d68ad35-29c7-484d-907c-65a3fbc0eadb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relatingMaterial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IfcMaterialLayerSetUsageComponent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directionSense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NEGATIVE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forLayerSet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IfcMaterialLayerSetComponent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layerSetName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Basic Wall:Generic - 8</a:t>
            </a:r>
            <a:r>
              <a:rPr lang="en-US" sz="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materialLayers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IfcMaterialLayerComponent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layerThickness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0.6666666666666666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"material"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"componentType"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IfcMaterialComponent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Default Wall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]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layerSetDirection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AXIS2</a:t>
            </a:r>
            <a:r>
              <a:rPr lang="en-US" sz="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offsetFromReferenceLine</a:t>
            </a:r>
            <a:r>
              <a:rPr lang="en-US" sz="8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0.3333333333333333</a:t>
            </a:r>
            <a:endParaRPr lang="en-US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</p:txBody>
      </p:sp>
    </p:spTree>
    <p:extLst>
      <p:ext uri="{BB962C8B-B14F-4D97-AF65-F5344CB8AC3E}">
        <p14:creationId xmlns:p14="http://schemas.microsoft.com/office/powerpoint/2010/main" val="55812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</TotalTime>
  <Words>1190</Words>
  <Application>Microsoft Office PowerPoint</Application>
  <PresentationFormat>Widescreen</PresentationFormat>
  <Paragraphs>227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Office Theme</vt:lpstr>
      <vt:lpstr>IFC5-X-ECS prototype</vt:lpstr>
      <vt:lpstr>IFC-ECS Prototype</vt:lpstr>
      <vt:lpstr>PowerPoint Presentation</vt:lpstr>
      <vt:lpstr>Component data strategy</vt:lpstr>
      <vt:lpstr>Data migration strategy</vt:lpstr>
      <vt:lpstr>Data migration strategy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Shelden, Dennis Robert</dc:creator>
  <cp:lastModifiedBy>Shelden, Dennis Robert</cp:lastModifiedBy>
  <cp:revision>3</cp:revision>
  <dcterms:created xsi:type="dcterms:W3CDTF">2026-02-20T22:29:55Z</dcterms:created>
  <dcterms:modified xsi:type="dcterms:W3CDTF">2026-02-22T19:09:33Z</dcterms:modified>
</cp:coreProperties>
</file>